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疫情週報範例</a:t>
            </a:r>
          </a:p>
          <a:p>
            <a:r>
              <a:rPr sz="2000">
                <a:solidFill>
                  <a:srgbClr val="E8EEE7"/>
                </a:solidFill>
              </a:rPr>
              <a:t>Epidemic Weekly Report Template</a:t>
            </a:r>
          </a:p>
          <a:p>
            <a:r>
              <a:rPr sz="1200">
                <a:solidFill>
                  <a:srgbClr val="E8EEE7"/>
                </a:solidFill>
              </a:rPr>
              <a:t>依據:https://drhao.github.io/epi-dataviz-styleguide/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每日新增確診</a:t>
            </a:r>
          </a:p>
          <a:p>
            <a:r>
              <a:rPr sz="1100">
                <a:solidFill>
                  <a:srgbClr val="E8EEE7"/>
                </a:solidFill>
              </a:rPr>
              <a:t>Pattern A:主色直條 + 7 日 trailing 移動平均</a:t>
            </a:r>
          </a:p>
        </p:txBody>
      </p:sp>
      <p:pic>
        <p:nvPicPr>
          <p:cNvPr id="4" name="Picture 3" descr="01b-bar-daily-with-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259" y="1005840"/>
            <a:ext cx="881117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C43"/>
                </a:solidFill>
              </a:rPr>
              <a:t>每日填報受週末效應影響,以 7 日 trailing 均線(本日含前 6 日)呈現潛在趨勢。Y 軸從零開始。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今年 vs 去年同期(含歷史範圍)</a:t>
            </a:r>
          </a:p>
          <a:p>
            <a:r>
              <a:rPr sz="1100">
                <a:solidFill>
                  <a:srgbClr val="E8EEE7"/>
                </a:solidFill>
              </a:rPr>
              <a:t>Pattern A:主色焦點 + 中性灰歷史範圍帶</a:t>
            </a:r>
          </a:p>
        </p:txBody>
      </p:sp>
      <p:pic>
        <p:nvPicPr>
          <p:cNvPr id="4" name="Picture 3" descr="02c-line-year-over-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879" y="1005840"/>
            <a:ext cx="844993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C43"/>
                </a:solidFill>
              </a:rPr>
              <a:t>今年用主色 #5D7F58 作為焦點,去年同期用中性灰虛線,歷史範圍(±1 SD)用灰色填充帶,讀者能立即看出當前是否偏離常態。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變異株消長</a:t>
            </a:r>
          </a:p>
          <a:p>
            <a:r>
              <a:rPr sz="1100">
                <a:solidFill>
                  <a:srgbClr val="E8EEE7"/>
                </a:solidFill>
              </a:rPr>
              <a:t>Pattern B:5 色類別配色 100% 堆疊</a:t>
            </a:r>
          </a:p>
        </p:txBody>
      </p:sp>
      <p:pic>
        <p:nvPicPr>
          <p:cNvPr id="4" name="Picture 3" descr="04a-stacked-100-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45" y="1005840"/>
            <a:ext cx="8893804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C43"/>
                </a:solidFill>
              </a:rPr>
              <a:t>5 個變異株彼此為獨立類別,使用類別配色。主流變異株(JN.1)用主色。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年齡 × 嚴重度(單色)</a:t>
            </a:r>
          </a:p>
          <a:p>
            <a:r>
              <a:rPr sz="1100">
                <a:solidFill>
                  <a:srgbClr val="E8EEE7"/>
                </a:solidFill>
              </a:rPr>
              <a:t>Pattern E:單色色階,重症(深色)放底部</a:t>
            </a:r>
          </a:p>
        </p:txBody>
      </p:sp>
      <p:pic>
        <p:nvPicPr>
          <p:cNvPr id="4" name="Picture 3" descr="10a-mono-stacked-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069" y="1005840"/>
            <a:ext cx="829955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C43"/>
                </a:solidFill>
              </a:rPr>
              <a:t>嚴重度為序數資料,使用單色色階傳達層次。最深色置於堆疊底部作為視覺基底。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色票與引用</a:t>
            </a:r>
          </a:p>
          <a:p>
            <a:r>
              <a:rPr sz="1100">
                <a:solidFill>
                  <a:srgbClr val="E8EEE7"/>
                </a:solidFill>
              </a:rPr>
              <a:t>依本指引使用 — 主色 #739A6D + 類別配色 + 強調紅僅限警示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280160" cy="1280160"/>
          </a:xfrm>
          <a:prstGeom prst="rect">
            <a:avLst/>
          </a:prstGeom>
          <a:solidFill>
            <a:srgbClr val="739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#739A6D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主色 Sage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280160"/>
            <a:ext cx="1280160" cy="1280160"/>
          </a:xfrm>
          <a:prstGeom prst="rect">
            <a:avLst/>
          </a:prstGeom>
          <a:solidFill>
            <a:srgbClr val="587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#587A9D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Slate Blue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280160"/>
            <a:ext cx="1280160" cy="1280160"/>
          </a:xfrm>
          <a:prstGeom prst="rect">
            <a:avLst/>
          </a:prstGeom>
          <a:solidFill>
            <a:srgbClr val="C8A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#C8A041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Mustard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280160"/>
            <a:ext cx="1280160" cy="1280160"/>
          </a:xfrm>
          <a:prstGeom prst="rect">
            <a:avLst/>
          </a:prstGeom>
          <a:solidFill>
            <a:srgbClr val="498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#49888D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Teal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280160"/>
            <a:ext cx="1280160" cy="1280160"/>
          </a:xfrm>
          <a:prstGeom prst="rect">
            <a:avLst/>
          </a:prstGeom>
          <a:solidFill>
            <a:srgbClr val="91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#916E46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Bronze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1280160" cy="1280160"/>
          </a:xfrm>
          <a:prstGeom prst="rect">
            <a:avLst/>
          </a:prstGeom>
          <a:solidFill>
            <a:srgbClr val="955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#955F71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Plum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280160"/>
            <a:ext cx="1280160" cy="1280160"/>
          </a:xfrm>
          <a:prstGeom prst="rect">
            <a:avLst/>
          </a:prstGeom>
          <a:solidFill>
            <a:srgbClr val="BE3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606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74C34"/>
                </a:solidFill>
              </a:rPr>
              <a:t>#BE373C</a:t>
            </a:r>
          </a:p>
          <a:p>
            <a:pPr algn="ctr"/>
            <a:r>
              <a:rPr sz="900">
                <a:solidFill>
                  <a:srgbClr val="5D675B"/>
                </a:solidFill>
              </a:rPr>
              <a:t>Alert Red(僅警示)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74C34"/>
                </a:solidFill>
              </a:rPr>
              <a:t>4 項核心原則</a:t>
            </a:r>
          </a:p>
          <a:p>
            <a:r>
              <a:rPr sz="1200" b="0">
                <a:solidFill>
                  <a:srgbClr val="444C43"/>
                </a:solidFill>
              </a:rPr>
              <a:t>清晰優先 / 誠實呈現 / 一致性 / 負責任溝通</a:t>
            </a:r>
          </a:p>
          <a:p>
            <a:r>
              <a:rPr sz="8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374C34"/>
                </a:solidFill>
              </a:rPr>
              <a:t>使用本樣板時請遵守:</a:t>
            </a:r>
          </a:p>
          <a:p>
            <a:r>
              <a:rPr sz="1100" b="0">
                <a:solidFill>
                  <a:srgbClr val="444C43"/>
                </a:solidFill>
              </a:rPr>
              <a:t>• Y 軸從零開始,不截斷座標</a:t>
            </a:r>
          </a:p>
          <a:p>
            <a:r>
              <a:rPr sz="1100" b="0">
                <a:solidFill>
                  <a:srgbClr val="444C43"/>
                </a:solidFill>
              </a:rPr>
              <a:t>• 紅色(#BE373C)僅用於警示,不作一般類別色</a:t>
            </a:r>
          </a:p>
          <a:p>
            <a:r>
              <a:rPr sz="1100" b="0">
                <a:solidFill>
                  <a:srgbClr val="444C43"/>
                </a:solidFill>
              </a:rPr>
              <a:t>• 7 日移動平均使用 trailing(本日含前 6 日)</a:t>
            </a:r>
          </a:p>
          <a:p>
            <a:r>
              <a:rPr sz="1100" b="0">
                <a:solidFill>
                  <a:srgbClr val="444C43"/>
                </a:solidFill>
              </a:rPr>
              <a:t>• 單色色階堆疊時,最深色放底部</a:t>
            </a:r>
          </a:p>
          <a:p>
            <a:r>
              <a:rPr sz="800" b="0">
                <a:solidFill>
                  <a:srgbClr val="FFFFFF"/>
                </a:solidFill>
              </a:rPr>
              <a:t/>
            </a:r>
          </a:p>
          <a:p>
            <a:r>
              <a:rPr sz="1100" b="0">
                <a:solidFill>
                  <a:srgbClr val="739A6D"/>
                </a:solidFill>
              </a:rPr>
              <a:t>完整指引:https://drhao.github.io/epi-dataviz-styleguide/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